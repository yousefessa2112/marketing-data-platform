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Marketing Campaign Performance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3B82F6"/>
                </a:solidFill>
                <a:latin typeface="Calibri"/>
              </a:defRPr>
            </a:pPr>
            <a:r>
              <a:t>Multi-Channel Insights &amp; Optimization Opportunities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7315200" cy="210312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337560"/>
            <a:ext cx="6675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B2A4A"/>
                </a:solidFill>
                <a:latin typeface="Calibri"/>
              </a:defRPr>
            </a:pPr>
            <a:r>
              <a:t>Executive View: Spend, Efficiency, and Growth Opportunities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7315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Marketing data lives in separate channel reports.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Leaders cannot compare performance quickly.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Budget decisions become slower and riskier.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A unified view reveals where money works best.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Data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60320"/>
            <a:ext cx="2286000" cy="164592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79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  <a:latin typeface="Calibri"/>
              </a:defRPr>
            </a:pPr>
            <a:r>
              <a:t>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63239"/>
            <a:ext cx="1920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0332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Calibri"/>
              </a:defRPr>
            </a:pPr>
            <a:r>
              <a:t>Search, Social, Display, Email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560320"/>
            <a:ext cx="2286000" cy="164592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697479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  <a:latin typeface="Calibri"/>
              </a:defRPr>
            </a:pPr>
            <a:r>
              <a:t>Daily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063239"/>
            <a:ext cx="1920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  <a:latin typeface="Calibri"/>
              </a:defRPr>
            </a:pPr>
            <a:r>
              <a:t>900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0332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Calibri"/>
              </a:defRPr>
            </a:pPr>
            <a:r>
              <a:t>Consistent daily performance tracking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560320"/>
            <a:ext cx="2286000" cy="164592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79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  <a:latin typeface="Calibri"/>
              </a:defRPr>
            </a:pPr>
            <a:r>
              <a:t>Campaign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063239"/>
            <a:ext cx="1920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  <a:latin typeface="Calibri"/>
              </a:defRPr>
            </a:pPr>
            <a:r>
              <a:t>6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70332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Calibri"/>
              </a:defRPr>
            </a:pPr>
            <a:r>
              <a:t>180 daily snapshots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Key Metrics Explained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60320"/>
            <a:ext cx="2286000" cy="20116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79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  <a:latin typeface="Calibri"/>
              </a:defRPr>
            </a:pPr>
            <a:r>
              <a:t>CTR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63239"/>
            <a:ext cx="1920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  <a:latin typeface="Calibri"/>
              </a:defRPr>
            </a:pPr>
            <a:r>
              <a:t>Clicks / 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0332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Calibri"/>
              </a:defRPr>
            </a:pPr>
            <a:r>
              <a:t>How many people click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560320"/>
            <a:ext cx="2286000" cy="20116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697479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  <a:latin typeface="Calibri"/>
              </a:defRPr>
            </a:pPr>
            <a:r>
              <a:t>CPC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063239"/>
            <a:ext cx="1920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  <a:latin typeface="Calibri"/>
              </a:defRPr>
            </a:pPr>
            <a:r>
              <a:t>Cost / Click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0332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Calibri"/>
              </a:defRPr>
            </a:pPr>
            <a:r>
              <a:t>What each click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560320"/>
            <a:ext cx="2286000" cy="20116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79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  <a:latin typeface="Calibri"/>
              </a:defRPr>
            </a:pPr>
            <a:r>
              <a:t>CPA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063239"/>
            <a:ext cx="1920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  <a:latin typeface="Calibri"/>
              </a:defRPr>
            </a:pPr>
            <a:r>
              <a:t>Cost /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70332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Calibri"/>
              </a:defRPr>
            </a:pPr>
            <a:r>
              <a:t>What each new customer costs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Top Findings - Spend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Search_Google is the biggest spender at $164K.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Search Google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3200400"/>
            <a:ext cx="4297680" cy="2560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31546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  <a:latin typeface="Calibri"/>
              </a:defRPr>
            </a:pPr>
            <a:r>
              <a:t>$164.2K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2160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Social FB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3767328"/>
            <a:ext cx="1797188" cy="2560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372160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  <a:latin typeface="Calibri"/>
              </a:defRPr>
            </a:pPr>
            <a:r>
              <a:t>$68.7K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88536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Social IG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4334256"/>
            <a:ext cx="1074438" cy="2560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288536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  <a:latin typeface="Calibri"/>
              </a:defRPr>
            </a:pPr>
            <a:r>
              <a:t>$41.1K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55464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Display Programmatic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4901184"/>
            <a:ext cx="642883" cy="2560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4855464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  <a:latin typeface="Calibri"/>
              </a:defRPr>
            </a:pPr>
            <a:r>
              <a:t>$24.6K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Email Newsletter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71800" y="5468112"/>
            <a:ext cx="616063" cy="2560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5422392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  <a:latin typeface="Calibri"/>
              </a:defRPr>
            </a:pPr>
            <a:r>
              <a:t>$23.5K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Top Findings - Efficiency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651760"/>
            <a:ext cx="3474720" cy="192024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651760"/>
            <a:ext cx="3474720" cy="192024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Calibri"/>
              </a:defRPr>
            </a:pPr>
            <a:r>
              <a:t>Most Cost-Efficient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3B82F6"/>
                </a:solidFill>
                <a:latin typeface="Calibri"/>
              </a:defRPr>
            </a:pPr>
            <a:r>
              <a:t>Email: $7.56 CPA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88036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Calibri"/>
              </a:defRPr>
            </a:pPr>
            <a:r>
              <a:t>Highest 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3310128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3B82F6"/>
                </a:solidFill>
                <a:latin typeface="Calibri"/>
              </a:defRPr>
            </a:pPr>
            <a:r>
              <a:t>Search: 3.96% CTR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Channel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60320"/>
            <a:ext cx="2560320" cy="502920"/>
          </a:xfrm>
          <a:prstGeom prst="rect">
            <a:avLst/>
          </a:prstGeom>
          <a:solidFill>
            <a:srgbClr val="1B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651760"/>
            <a:ext cx="24140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560320"/>
            <a:ext cx="1554480" cy="502920"/>
          </a:xfrm>
          <a:prstGeom prst="rect">
            <a:avLst/>
          </a:prstGeom>
          <a:solidFill>
            <a:srgbClr val="1B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47872" y="2651760"/>
            <a:ext cx="1408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Spend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2560320"/>
            <a:ext cx="1463040" cy="502920"/>
          </a:xfrm>
          <a:prstGeom prst="rect">
            <a:avLst/>
          </a:prstGeom>
          <a:solidFill>
            <a:srgbClr val="1B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02352" y="2651760"/>
            <a:ext cx="1316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CTR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560320"/>
            <a:ext cx="1737360" cy="502920"/>
          </a:xfrm>
          <a:prstGeom prst="rect">
            <a:avLst/>
          </a:prstGeom>
          <a:solidFill>
            <a:srgbClr val="1B2A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651760"/>
            <a:ext cx="1591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CPA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063240"/>
            <a:ext cx="256032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145536"/>
            <a:ext cx="24140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Search 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3063240"/>
            <a:ext cx="155448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3145536"/>
            <a:ext cx="1408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$164.2K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3063240"/>
            <a:ext cx="146304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3145536"/>
            <a:ext cx="1316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3.96%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063240"/>
            <a:ext cx="173736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145536"/>
            <a:ext cx="1591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$42.36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25603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675888"/>
            <a:ext cx="24140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Social FB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3593592"/>
            <a:ext cx="1554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7872" y="3675888"/>
            <a:ext cx="1408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$68.7K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593592"/>
            <a:ext cx="14630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02352" y="3675888"/>
            <a:ext cx="1316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1.90%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593592"/>
            <a:ext cx="1737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3675888"/>
            <a:ext cx="1591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$37.27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123944"/>
            <a:ext cx="256032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206240"/>
            <a:ext cx="24140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Social IG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4123944"/>
            <a:ext cx="155448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2" y="4206240"/>
            <a:ext cx="1408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$41.1K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4123944"/>
            <a:ext cx="146304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4206240"/>
            <a:ext cx="1316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1.57%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4123944"/>
            <a:ext cx="173736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4206240"/>
            <a:ext cx="1591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$38.06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654296"/>
            <a:ext cx="25603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4736592"/>
            <a:ext cx="24140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Display Programmatic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4654296"/>
            <a:ext cx="1554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47872" y="4736592"/>
            <a:ext cx="1408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$24.6K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654296"/>
            <a:ext cx="14630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2352" y="4736592"/>
            <a:ext cx="1316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0.75%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654296"/>
            <a:ext cx="1737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65392" y="4736592"/>
            <a:ext cx="1591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$61.02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5184648"/>
            <a:ext cx="256032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5266944"/>
            <a:ext cx="24140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Email Newsletter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0" y="5184648"/>
            <a:ext cx="155448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5266944"/>
            <a:ext cx="1408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$23.5K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0" y="5184648"/>
            <a:ext cx="146304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02352" y="5266944"/>
            <a:ext cx="1316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3.73%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5184648"/>
            <a:ext cx="1737360" cy="502920"/>
          </a:xfrm>
          <a:prstGeom prst="rect">
            <a:avLst/>
          </a:prstGeom>
          <a:solidFill>
            <a:srgbClr val="F3F4F6"/>
          </a:solidFill>
          <a:ln>
            <a:solidFill>
              <a:srgbClr val="DC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65392" y="5266944"/>
            <a:ext cx="1591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Calibri"/>
              </a:defRPr>
            </a:pPr>
            <a:r>
              <a:t>$8.11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Trends: Clicks Over 6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Clicks rise through winter and peak in March.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April softens, likely seasonal demand shift.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Overall trend stays healthy across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34512"/>
            <a:ext cx="731520" cy="574647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731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3052475"/>
            <a:ext cx="731520" cy="1656684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800600"/>
            <a:ext cx="731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3007402"/>
            <a:ext cx="731520" cy="1701757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4800600"/>
            <a:ext cx="731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909101"/>
            <a:ext cx="731520" cy="1800058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4800600"/>
            <a:ext cx="731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2999174"/>
            <a:ext cx="731520" cy="1709985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4800600"/>
            <a:ext cx="731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2788920"/>
            <a:ext cx="731520" cy="19202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4800600"/>
            <a:ext cx="731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  <a:latin typeface="Calibr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7315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Increase budget in Search for scalable traffic.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Protect Email investment for efficient conversions.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Improve Display creative and audience targeting.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Review channel mix monthly for seasonality shifts.</a:t>
            </a:r>
          </a:p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Set CPA guardrails before expanding spend.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017520"/>
            <a:ext cx="1188720" cy="91440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3310128"/>
            <a:ext cx="1042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Collect</a:t>
            </a:r>
          </a:p>
        </p:txBody>
      </p:sp>
      <p:sp>
        <p:nvSpPr>
          <p:cNvPr id="7" name="Chevron 6"/>
          <p:cNvSpPr/>
          <p:nvPr/>
        </p:nvSpPr>
        <p:spPr>
          <a:xfrm>
            <a:off x="2148840" y="3337560"/>
            <a:ext cx="164592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3017520"/>
            <a:ext cx="1188720" cy="91440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4872" y="3310128"/>
            <a:ext cx="1042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Clean</a:t>
            </a:r>
          </a:p>
        </p:txBody>
      </p:sp>
      <p:sp>
        <p:nvSpPr>
          <p:cNvPr id="10" name="Chevron 9"/>
          <p:cNvSpPr/>
          <p:nvPr/>
        </p:nvSpPr>
        <p:spPr>
          <a:xfrm>
            <a:off x="3566160" y="3337560"/>
            <a:ext cx="164592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49039" y="3017520"/>
            <a:ext cx="1188720" cy="91440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1" y="3310128"/>
            <a:ext cx="1042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3" name="Chevron 12"/>
          <p:cNvSpPr/>
          <p:nvPr/>
        </p:nvSpPr>
        <p:spPr>
          <a:xfrm>
            <a:off x="4983479" y="3337560"/>
            <a:ext cx="164592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3017520"/>
            <a:ext cx="1188720" cy="91440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3310128"/>
            <a:ext cx="1042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6" name="Chevron 15"/>
          <p:cNvSpPr/>
          <p:nvPr/>
        </p:nvSpPr>
        <p:spPr>
          <a:xfrm>
            <a:off x="6400800" y="3337560"/>
            <a:ext cx="164592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3017520"/>
            <a:ext cx="1188720" cy="91440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3310128"/>
            <a:ext cx="1042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alibri"/>
              </a:defRPr>
            </a:pPr>
            <a:r>
              <a:t>Visualize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F2937"/>
                </a:solidFill>
                <a:latin typeface="Calibri"/>
              </a:defRPr>
            </a:pPr>
            <a:r>
              <a:t>Automated, repeatable, and ready for regular reporting.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Tools &amp; Tech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65176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07791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926079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8" name="Oval 7"/>
          <p:cNvSpPr/>
          <p:nvPr/>
        </p:nvSpPr>
        <p:spPr>
          <a:xfrm>
            <a:off x="3383280" y="2651760"/>
            <a:ext cx="914400" cy="9144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907791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926079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Oval 10"/>
          <p:cNvSpPr/>
          <p:nvPr/>
        </p:nvSpPr>
        <p:spPr>
          <a:xfrm>
            <a:off x="5852160" y="265176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907791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26079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libri"/>
              </a:defRPr>
            </a:pPr>
            <a:r>
              <a:t>PySpark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97680"/>
            <a:ext cx="914400" cy="9144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537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57200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libri"/>
              </a:defRPr>
            </a:pPr>
            <a:r>
              <a:t>Plotly</a:t>
            </a:r>
          </a:p>
        </p:txBody>
      </p:sp>
      <p:sp>
        <p:nvSpPr>
          <p:cNvPr id="17" name="Oval 16"/>
          <p:cNvSpPr/>
          <p:nvPr/>
        </p:nvSpPr>
        <p:spPr>
          <a:xfrm>
            <a:off x="3383280" y="429768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45537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57200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libri"/>
              </a:defRPr>
            </a:pPr>
            <a:r>
              <a:t>SQLite</a:t>
            </a:r>
          </a:p>
        </p:txBody>
      </p:sp>
      <p:sp>
        <p:nvSpPr>
          <p:cNvPr id="20" name="Oval 19"/>
          <p:cNvSpPr/>
          <p:nvPr/>
        </p:nvSpPr>
        <p:spPr>
          <a:xfrm>
            <a:off x="5852160" y="4297680"/>
            <a:ext cx="914400" cy="9144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455371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  <a:latin typeface="Calibri"/>
              </a:defRPr>
            </a:pPr>
            <a:r>
              <a:t>Azure-ready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3B82F6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7315200" cy="1737360"/>
          </a:xfrm>
          <a:prstGeom prst="roundRect">
            <a:avLst/>
          </a:prstGeom>
          <a:solidFill>
            <a:srgbClr val="F3F4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Thank you for your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