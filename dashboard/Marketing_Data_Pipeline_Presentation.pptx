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Multi-Channel Marketing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3383280"/>
            <a:ext cx="9418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A62B"/>
                </a:solidFill>
                <a:latin typeface="Calibri"/>
              </a:defRPr>
            </a:pPr>
            <a:r>
              <a:t>From raw campaign data to SQL insights and an interactive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What this project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86AD"/>
                </a:solidFill>
                <a:latin typeface="Calibri"/>
              </a:defRPr>
            </a:pPr>
            <a:r>
              <a:t>Objective and problem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42E42"/>
                </a:solidFill>
                <a:latin typeface="Calibri"/>
              </a:defRPr>
            </a:pPr>
            <a:r>
              <a:t>Marketing teams collect campaign metrics from multiple channels, but the data is often fragmented and hard to compare.</a:t>
            </a:r>
          </a:p>
          <a:p>
            <a:pPr>
              <a:defRPr sz="2000">
                <a:solidFill>
                  <a:srgbClr val="242E42"/>
                </a:solidFill>
                <a:latin typeface="Calibri"/>
              </a:defRPr>
            </a:pPr>
            <a:r>
              <a:t>This project builds one consistent pipeline that ingests campaign data, cleans it, stores it centrally, and produces analysis-ready outputs.</a:t>
            </a:r>
          </a:p>
          <a:p>
            <a:pPr>
              <a:defRPr sz="2000">
                <a:solidFill>
                  <a:srgbClr val="242E42"/>
                </a:solidFill>
                <a:latin typeface="Calibri"/>
              </a:defRPr>
            </a:pPr>
            <a:r>
              <a:t>The goal is fast, repeatable answers to budget, engagement, and efficiency questions without manual spreadsheet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Tools used in this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749039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D1B3E"/>
                </a:solidFill>
              </a:defRPr>
            </a:pPr>
            <a:r>
              <a:t>Python</a:t>
            </a:r>
          </a:p>
          <a:p>
            <a:pPr>
              <a:spcBef>
                <a:spcPts val="600"/>
              </a:spcBef>
              <a:defRPr sz="1300">
                <a:solidFill>
                  <a:srgbClr val="242E42"/>
                </a:solidFill>
              </a:defRPr>
            </a:pPr>
            <a:r>
              <a:t>Orchestrates each pipeline step and automation scripts.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554480"/>
            <a:ext cx="3749039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D1B3E"/>
                </a:solidFill>
              </a:defRPr>
            </a:pPr>
            <a:r>
              <a:t>pandas</a:t>
            </a:r>
          </a:p>
          <a:p>
            <a:pPr>
              <a:spcBef>
                <a:spcPts val="600"/>
              </a:spcBef>
              <a:defRPr sz="1300">
                <a:solidFill>
                  <a:srgbClr val="242E42"/>
                </a:solidFill>
              </a:defRPr>
            </a:pPr>
            <a:r>
              <a:t>Cleans, validates, transforms, and enriches campaign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59" y="1554480"/>
            <a:ext cx="3749039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D1B3E"/>
                </a:solidFill>
              </a:defRPr>
            </a:pPr>
            <a:r>
              <a:t>SQLite</a:t>
            </a:r>
          </a:p>
          <a:p>
            <a:pPr>
              <a:spcBef>
                <a:spcPts val="600"/>
              </a:spcBef>
              <a:defRPr sz="1300">
                <a:solidFill>
                  <a:srgbClr val="242E42"/>
                </a:solidFill>
              </a:defRPr>
            </a:pPr>
            <a:r>
              <a:t>Stores cleaned data in a lightweight, queryable database.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3749039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D1B3E"/>
                </a:solidFill>
              </a:defRPr>
            </a:pPr>
            <a:r>
              <a:t>SQL + Window Functions</a:t>
            </a:r>
          </a:p>
          <a:p>
            <a:pPr>
              <a:spcBef>
                <a:spcPts val="600"/>
              </a:spcBef>
              <a:defRPr sz="1300">
                <a:solidFill>
                  <a:srgbClr val="242E42"/>
                </a:solidFill>
              </a:defRPr>
            </a:pPr>
            <a:r>
              <a:t>Drives CTE, LAG, RANK, rolling, and cumulative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840480"/>
            <a:ext cx="3749039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D1B3E"/>
                </a:solidFill>
              </a:defRPr>
            </a:pPr>
            <a:r>
              <a:t>PySpark</a:t>
            </a:r>
          </a:p>
          <a:p>
            <a:pPr>
              <a:spcBef>
                <a:spcPts val="600"/>
              </a:spcBef>
              <a:defRPr sz="1300">
                <a:solidFill>
                  <a:srgbClr val="242E42"/>
                </a:solidFill>
              </a:defRPr>
            </a:pPr>
            <a:r>
              <a:t>Shows scalable transformation and window-based feature engineering.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59" y="3840480"/>
            <a:ext cx="3749039" cy="1828800"/>
          </a:xfrm>
          <a:prstGeom prst="roundRect">
            <a:avLst/>
          </a:prstGeom>
          <a:solidFill>
            <a:srgbClr val="F5F8FC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D1B3E"/>
                </a:solidFill>
              </a:defRPr>
            </a:pPr>
            <a:r>
              <a:t>Plotly + Power BI Exports</a:t>
            </a:r>
          </a:p>
          <a:p>
            <a:pPr>
              <a:spcBef>
                <a:spcPts val="600"/>
              </a:spcBef>
              <a:defRPr sz="1300">
                <a:solidFill>
                  <a:srgbClr val="242E42"/>
                </a:solidFill>
              </a:defRPr>
            </a:pPr>
            <a:r>
              <a:t>Interactive dashboard plus BI-ready semantic extracts.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The data we work with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Daily performance data for 5 campaign channels: Search_Google, Social_FB, Social_IG, Display_Programmatic, Email_Newsletter.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Core fields: impressions, clicks, cost, conversions, and date.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Dataset scale: 13,288,616 impressions, 243,900 clicks, 10,896 conversions, $322,046.70 spend.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This gives enough volume to compare channel efficiency and trend behavior over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743200"/>
            <a:ext cx="2011680" cy="1097280"/>
          </a:xfrm>
          <a:prstGeom prst="roundRect">
            <a:avLst/>
          </a:prstGeom>
          <a:solidFill>
            <a:srgbClr val="0D1B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Raw Data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97480" y="3017520"/>
            <a:ext cx="502920" cy="457200"/>
          </a:xfrm>
          <a:prstGeom prst="rightArrow">
            <a:avLst/>
          </a:prstGeom>
          <a:solidFill>
            <a:srgbClr val="FFA62B"/>
          </a:solidFill>
          <a:ln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71800" y="2743200"/>
            <a:ext cx="2011680" cy="1097280"/>
          </a:xfrm>
          <a:prstGeom prst="roundRect">
            <a:avLst/>
          </a:prstGeom>
          <a:solidFill>
            <a:srgbClr val="0086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Cleaning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9200" y="3017520"/>
            <a:ext cx="502920" cy="457200"/>
          </a:xfrm>
          <a:prstGeom prst="rightArrow">
            <a:avLst/>
          </a:prstGeom>
          <a:solidFill>
            <a:srgbClr val="FFA62B"/>
          </a:solidFill>
          <a:ln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0" y="2743200"/>
            <a:ext cx="2011680" cy="1097280"/>
          </a:xfrm>
          <a:prstGeom prst="roundRect">
            <a:avLst/>
          </a:prstGeom>
          <a:solidFill>
            <a:srgbClr val="0D1B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60920" y="3017520"/>
            <a:ext cx="502920" cy="457200"/>
          </a:xfrm>
          <a:prstGeom prst="rightArrow">
            <a:avLst/>
          </a:prstGeom>
          <a:solidFill>
            <a:srgbClr val="FFA62B"/>
          </a:solidFill>
          <a:ln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35240" y="2743200"/>
            <a:ext cx="2011680" cy="1097280"/>
          </a:xfrm>
          <a:prstGeom prst="roundRect">
            <a:avLst/>
          </a:prstGeom>
          <a:solidFill>
            <a:srgbClr val="0086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Analysis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92640" y="3017520"/>
            <a:ext cx="502920" cy="457200"/>
          </a:xfrm>
          <a:prstGeom prst="rightArrow">
            <a:avLst/>
          </a:prstGeom>
          <a:solidFill>
            <a:srgbClr val="FFA62B"/>
          </a:solidFill>
          <a:ln>
            <a:solidFill>
              <a:srgbClr val="FFA6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59" y="2743200"/>
            <a:ext cx="2011680" cy="1097280"/>
          </a:xfrm>
          <a:prstGeom prst="roundRect">
            <a:avLst/>
          </a:prstGeom>
          <a:solidFill>
            <a:srgbClr val="0D1B3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389120"/>
            <a:ext cx="7406640" cy="137160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python3 scripts/run_pipeline.py</a:t>
            </a:r>
            <a:br/>
            <a:r>
              <a:t># runs: generate -&gt; clean -&gt; load -&gt; analyze -&gt;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Data cleaning and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577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Removed nulls and duplicates to avoid distorted metrics and double counting.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Converted date and numeric fields into consistent types for reliable analysis.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Calculated CTR = clicks/impressions, CPC = cost/clicks, CPA = cost/conversions.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CTR shows engagement, CPC shows traffic acquisition cost, CPA shows conversion efficiency.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920240"/>
            <a:ext cx="5120640" cy="210312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df['ctr'] = (df['clicks'] / df['impressions']).round(6)</a:t>
            </a:r>
            <a:br/>
            <a:r>
              <a:t>df['cpc'] = (df['cost'] / df['clicks']).round(4)</a:t>
            </a:r>
            <a:br/>
            <a:r>
              <a:t>df['cpa'] = (df['cost'] / df['conversions']).round(4)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SQLite storage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3035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Cleaned data is loaded into SQLite table: campaign_performance.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The table acts as the analytical source of truth for SQL reporting.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645920"/>
            <a:ext cx="5852160" cy="402336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CREATE TABLE campaign_performance (</a:t>
            </a:r>
            <a:br/>
            <a:r>
              <a:t>  date TEXT,</a:t>
            </a:r>
            <a:br/>
            <a:r>
              <a:t>  campaign_id TEXT,</a:t>
            </a:r>
            <a:br/>
            <a:r>
              <a:t>  impressions INTEGER,</a:t>
            </a:r>
            <a:br/>
            <a:r>
              <a:t>  clicks INTEGER,</a:t>
            </a:r>
            <a:br/>
            <a:r>
              <a:t>  cost REAL,</a:t>
            </a:r>
            <a:br/>
            <a:r>
              <a:t>  conversions INTEGER,</a:t>
            </a:r>
            <a:br/>
            <a:r>
              <a:t>  ctr REAL,</a:t>
            </a:r>
            <a:br/>
            <a:r>
              <a:t>  cpc REAL,</a:t>
            </a:r>
            <a:br/>
            <a:r>
              <a:t>  cpa REAL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SQL analysis: key business questions +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42E42"/>
                </a:solidFill>
                <a:latin typeface="Calibri"/>
              </a:defRPr>
            </a:pPr>
            <a:r>
              <a:t>1) Which campaign has the highest total cost?  Search_Google at $164,215.96</a:t>
            </a:r>
          </a:p>
          <a:p>
            <a:pPr>
              <a:defRPr sz="1600">
                <a:solidFill>
                  <a:srgbClr val="242E42"/>
                </a:solidFill>
                <a:latin typeface="Calibri"/>
              </a:defRPr>
            </a:pPr>
            <a:r>
              <a:t>2) Which campaign has the highest CTR?  Search_Google at 3.96%</a:t>
            </a:r>
          </a:p>
          <a:p>
            <a:pPr>
              <a:defRPr sz="1600">
                <a:solidFill>
                  <a:srgbClr val="242E42"/>
                </a:solidFill>
                <a:latin typeface="Calibri"/>
              </a:defRPr>
            </a:pPr>
            <a:r>
              <a:t>3) How do clicks trend over time?  Daily aggregate query shows a stable, seasonal-like pattern.</a:t>
            </a:r>
          </a:p>
          <a:p>
            <a:pPr>
              <a:defRPr sz="1600">
                <a:solidFill>
                  <a:srgbClr val="242E42"/>
                </a:solidFill>
                <a:latin typeface="Calibri"/>
              </a:defRPr>
            </a:pPr>
            <a:r>
              <a:t>4) Which campaign has the lowest average CPA?  Email_Newsletter at $8.11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572000"/>
            <a:ext cx="5486400" cy="146304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campaign_id, ROUND(SUM(cost),2) AS total_cost</a:t>
            </a:r>
            <a:br/>
            <a:r>
              <a:t>FROM campaign_performance</a:t>
            </a:r>
            <a:br/>
            <a:r>
              <a:t>GROUP BY campaign_id</a:t>
            </a:r>
            <a:br/>
            <a:r>
              <a:t>ORDER BY total_cost DESC;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4572000"/>
            <a:ext cx="5120640" cy="146304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SELECT campaign_id, ROUND(AVG(cpa),2) AS avg_cpa</a:t>
            </a:r>
            <a:br/>
            <a:r>
              <a:t>FROM campaign_performance</a:t>
            </a:r>
            <a:br/>
            <a:r>
              <a:t>GROUP BY campaign_id</a:t>
            </a:r>
            <a:br/>
            <a:r>
              <a:t>ORDER BY avg_cpa ASC;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Interactive dashboard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67665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KPI cards: Average CTR and Average CPA for quick executive visibility.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Line chart: total clicks by date to monitor trend movement.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Bar chart: campaign cost comparison to highlight budget concentration.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Delivered as HTML via Plotly for interactive exploration and filtering.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06640" y="1828800"/>
            <a:ext cx="4389120" cy="3566160"/>
          </a:xfrm>
          <a:prstGeom prst="rect">
            <a:avLst/>
          </a:prstGeom>
          <a:solidFill>
            <a:srgbClr val="F5F8FC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D1B3E"/>
                </a:solidFill>
              </a:defRPr>
            </a:pPr>
            <a:r>
              <a:t>Dashboard</a:t>
            </a:r>
            <a:br/>
            <a:br/>
            <a:r>
              <a:t>- Avg CTR card</a:t>
            </a:r>
            <a:br/>
            <a:r>
              <a:t>- Avg CPA card</a:t>
            </a:r>
            <a:br/>
            <a:r>
              <a:t>- Clicks trend line</a:t>
            </a:r>
            <a:br/>
            <a:r>
              <a:t>- Campaign cost bar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Dimensional data model (star schema)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Introduced schema design with fact_campaign_daily and dimensions for campaign, channel, and date.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Model supports scalable BI slicing (time, campaign, channel) and cleaner semantic reporting.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Loaded entities: campaigns=5, channels=4, dates=180, fact rows=900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657600"/>
            <a:ext cx="10241280" cy="201168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fact_campaign_daily(date_key, campaign_key, impressions, clicks, cost, conversions, ctr, cpc, cpa)</a:t>
            </a:r>
            <a:br/>
            <a:r>
              <a:t>dim_campaign(campaign_key, campaign_id, channel_key)</a:t>
            </a:r>
            <a:br/>
            <a:r>
              <a:t>dim_channel(channel_key, channel_name)</a:t>
            </a:r>
            <a:br/>
            <a:r>
              <a:t>dim_date(date_key, date_value, year, month, day, week_of_year)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PySpark processing for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65836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Raw CSV loaded with explicit schema in Spark DataFrames.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Applied null handling, type cleanup, metric enrichment (CTR/CPC/CPA), and campaign-date aggregation.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Used Spark window functions for lag clicks and rolling 7-day average CTR.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Wrote curated parquet output for cloud-ready downstream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40880" y="1828800"/>
            <a:ext cx="4480560" cy="210312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w = Window.partitionBy('campaign_id').orderBy('date')</a:t>
            </a:r>
            <a:br/>
            <a:r>
              <a:t>df = df.withColumn('prev_day_clicks', F.lag('clicks', 1).over(w))</a:t>
            </a:r>
            <a:br/>
            <a:r>
              <a:t>df = df.withColumn('rolling_7d_avg_ctr', F.avg('ctr').over(w.rowsBetween(-6, 0)))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Data quality and testing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Automated quality checks after cleaning: nulls, ranges, duplicates, completeness, and row-count validation.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Checks are logged with PASS/FAIL outcomes to quality_report.txt for auditability.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Pytest suite validates cleaning logic, loading behavior, SQL structures, model creation, and exports.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Pipeline logging captures runtime, step status, and row counts in pipeline_log.csv.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Cloud architecture and role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Azure-ready design: Blob Storage (raw), Databricks/ADF (orchestration), Azure SQL/Synapse (warehouse), Power BI (BI).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Config-driven settings via YAML support local-to-cloud environment transitions.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Stack aligns with Senior Data Analyst expectations: complex SQL, ETL/ELT, Python, PySpark, data modeling, quality/testing, BI communication.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Pipeline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One command executes every stage end-to-end, from generation through BI export and presentation output.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Flow includes data quality checks, SQL modeling/analysis, optional PySpark processing, dashboarding, and Power BI-ready data.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Each step remains modular for interview walkthrough and future productionization.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3657600"/>
            <a:ext cx="9418320" cy="2103120"/>
          </a:xfrm>
          <a:prstGeom prst="roundRect">
            <a:avLst/>
          </a:prstGeom>
          <a:solidFill>
            <a:srgbClr val="1A2334"/>
          </a:solidFill>
          <a:ln>
            <a:solidFill>
              <a:srgbClr val="0086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python3 scripts/run_pipeline.py</a:t>
            </a:r>
            <a:br/>
            <a:br/>
            <a:r>
              <a:t># generate -&gt; clean -&gt; quality -&gt; load -&gt; SQL model/analysis</a:t>
            </a:r>
            <a:br/>
            <a:r>
              <a:t># -&gt; optional pyspark -&gt; dashboard -&gt; powerbi export -&gt;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1B3E"/>
                </a:solidFill>
                <a:latin typeface="Calibri"/>
              </a:defRPr>
            </a:pPr>
            <a:r>
              <a:t>Key insights from 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Search_Google drives the largest spend and strongest CTR, making it a high-volume performance engine.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Email_Newsletter delivers the most efficient acquisition cost (lowest CPA), indicating high conversion efficiency.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Display_Programmatic has the weakest CTR and highest CPA, suggesting creative or targeting optimization is needed.</a:t>
            </a:r>
          </a:p>
          <a:p>
            <a:pPr>
              <a:defRPr sz="1800">
                <a:solidFill>
                  <a:srgbClr val="242E42"/>
                </a:solidFill>
                <a:latin typeface="Calibri"/>
              </a:defRPr>
            </a:pPr>
            <a:r>
              <a:t>Cross-channel visibility helps rebalance budget toward both scale (Search) and efficiency (Email).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Reliable pipeline, clear metrics, cloud-ready analytical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242E42"/>
                </a:solidFill>
                <a:latin typeface="Calibri"/>
              </a:defRPr>
            </a:pPr>
            <a:r>
              <a:t>This project now demonstrates an interview-ready analytics stack from ETL through dimensional modeling and BI delivery.</a:t>
            </a:r>
          </a:p>
          <a:p>
            <a:pPr>
              <a:defRPr sz="1900">
                <a:solidFill>
                  <a:srgbClr val="242E42"/>
                </a:solidFill>
                <a:latin typeface="Calibri"/>
              </a:defRPr>
            </a:pPr>
            <a:r>
              <a:t>It combines pandas and PySpark processing, advanced SQL, data quality/testing controls, and Azure deployment awareness.</a:t>
            </a:r>
          </a:p>
          <a:p>
            <a:pPr>
              <a:defRPr sz="1900">
                <a:solidFill>
                  <a:srgbClr val="242E42"/>
                </a:solidFill>
                <a:latin typeface="Calibri"/>
              </a:defRPr>
            </a:pPr>
            <a:r>
              <a:t>Outcome: repeatable analytics workflows with strong technical depth and clear business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